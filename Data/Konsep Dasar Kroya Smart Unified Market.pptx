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dip.png"/>
          <p:cNvPicPr>
            <a:picLocks noChangeAspect="1"/>
          </p:cNvPicPr>
          <p:nvPr/>
        </p:nvPicPr>
        <p:blipFill>
          <a:blip r:embed="rId2"/>
          <a:stretch>
            <a:fillRect/>
          </a:stretch>
        </p:blipFill>
        <p:spPr>
          <a:xfrm>
            <a:off x="402336" y="146304"/>
            <a:ext cx="409651" cy="512064"/>
          </a:xfrm>
          <a:prstGeom prst="rect">
            <a:avLst/>
          </a:prstGeom>
        </p:spPr>
      </p:pic>
      <p:sp>
        <p:nvSpPr>
          <p:cNvPr id="4" name="Rectangle 3"/>
          <p:cNvSpPr/>
          <p:nvPr/>
        </p:nvSpPr>
        <p:spPr>
          <a:xfrm>
            <a:off x="932688" y="201168"/>
            <a:ext cx="20116" cy="411480"/>
          </a:xfrm>
          <a:prstGeom prst="rect">
            <a:avLst/>
          </a:prstGeom>
          <a:solidFill>
            <a:srgbClr val="4C5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18872"/>
            <a:ext cx="4206240" cy="566928"/>
          </a:xfrm>
          <a:prstGeom prst="rect">
            <a:avLst/>
          </a:prstGeom>
          <a:noFill/>
        </p:spPr>
        <p:txBody>
          <a:bodyPr wrap="square" lIns="0" rIns="0" tIns="0" bIns="0" anchor="ctr">
            <a:spAutoFit/>
          </a:bodyPr>
          <a:lstStyle/>
          <a:p>
            <a:pPr algn="l">
              <a:lnSpc>
                <a:spcPct val="95000"/>
              </a:lnSpc>
            </a:pPr>
            <a:r>
              <a:rPr sz="1300" b="1" i="0">
                <a:solidFill>
                  <a:srgbClr val="6A776D"/>
                </a:solidFill>
                <a:latin typeface="Arial"/>
              </a:rPr>
              <a:t>Departemen</a:t>
            </a:r>
          </a:p>
          <a:p>
            <a:pPr algn="l">
              <a:lnSpc>
                <a:spcPct val="95000"/>
              </a:lnSpc>
            </a:pPr>
            <a:r>
              <a:rPr sz="1450" b="1" i="0">
                <a:solidFill>
                  <a:srgbClr val="364025"/>
                </a:solidFill>
                <a:latin typeface="Arial"/>
              </a:rPr>
              <a:t>Perencanaan Wilayah dan Kota</a:t>
            </a:r>
          </a:p>
        </p:txBody>
      </p:sp>
      <p:sp>
        <p:nvSpPr>
          <p:cNvPr id="6" name="TextBox 5"/>
          <p:cNvSpPr txBox="1"/>
          <p:nvPr/>
        </p:nvSpPr>
        <p:spPr>
          <a:xfrm>
            <a:off x="7315200" y="91440"/>
            <a:ext cx="3218688" cy="603504"/>
          </a:xfrm>
          <a:prstGeom prst="rect">
            <a:avLst/>
          </a:prstGeom>
          <a:noFill/>
        </p:spPr>
        <p:txBody>
          <a:bodyPr wrap="square" lIns="0" rIns="0" tIns="0" bIns="0" anchor="ctr">
            <a:spAutoFit/>
          </a:bodyPr>
          <a:lstStyle/>
          <a:p>
            <a:pPr algn="r">
              <a:lnSpc>
                <a:spcPct val="95000"/>
              </a:lnSpc>
            </a:pPr>
            <a:r>
              <a:rPr sz="950" b="1" i="1">
                <a:solidFill>
                  <a:srgbClr val="4C5928"/>
                </a:solidFill>
                <a:latin typeface="Georgia"/>
              </a:rPr>
              <a:t>Perancangan Kota</a:t>
            </a:r>
          </a:p>
          <a:p>
            <a:pPr algn="r">
              <a:lnSpc>
                <a:spcPct val="95000"/>
              </a:lnSpc>
            </a:pPr>
            <a:r>
              <a:rPr sz="1250" b="1" i="0">
                <a:solidFill>
                  <a:srgbClr val="364025"/>
                </a:solidFill>
                <a:latin typeface="Georgia"/>
              </a:rPr>
              <a:t>Kecamatan Kroya</a:t>
            </a:r>
          </a:p>
          <a:p>
            <a:pPr algn="r">
              <a:lnSpc>
                <a:spcPct val="95000"/>
              </a:lnSpc>
            </a:pPr>
            <a:r>
              <a:rPr sz="900" b="1" i="0">
                <a:solidFill>
                  <a:srgbClr val="4C5928"/>
                </a:solidFill>
                <a:latin typeface="Georgia"/>
              </a:rPr>
              <a:t>Kabupaten Cilacap</a:t>
            </a:r>
          </a:p>
        </p:txBody>
      </p:sp>
      <p:sp>
        <p:nvSpPr>
          <p:cNvPr id="7" name="TextBox 6"/>
          <p:cNvSpPr txBox="1"/>
          <p:nvPr/>
        </p:nvSpPr>
        <p:spPr>
          <a:xfrm>
            <a:off x="10561320" y="54864"/>
            <a:ext cx="1225296" cy="658368"/>
          </a:xfrm>
          <a:prstGeom prst="rect">
            <a:avLst/>
          </a:prstGeom>
          <a:noFill/>
        </p:spPr>
        <p:txBody>
          <a:bodyPr wrap="square" lIns="0" rIns="0" tIns="0" bIns="0" anchor="ctr">
            <a:spAutoFit/>
          </a:bodyPr>
          <a:lstStyle/>
          <a:p>
            <a:pPr algn="r">
              <a:lnSpc>
                <a:spcPct val="92000"/>
              </a:lnSpc>
            </a:pPr>
            <a:r>
              <a:rPr sz="3000" b="1" i="0">
                <a:solidFill>
                  <a:srgbClr val="4C5928"/>
                </a:solidFill>
                <a:latin typeface="Georgia"/>
              </a:rPr>
              <a:t>D3.2</a:t>
            </a:r>
          </a:p>
        </p:txBody>
      </p:sp>
      <p:sp>
        <p:nvSpPr>
          <p:cNvPr id="8" name="Rectangle 7"/>
          <p:cNvSpPr/>
          <p:nvPr/>
        </p:nvSpPr>
        <p:spPr>
          <a:xfrm>
            <a:off x="402336" y="731520"/>
            <a:ext cx="11387297" cy="25603"/>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22960"/>
            <a:ext cx="11094689" cy="566928"/>
          </a:xfrm>
          <a:prstGeom prst="rect">
            <a:avLst/>
          </a:prstGeom>
          <a:noFill/>
        </p:spPr>
        <p:txBody>
          <a:bodyPr wrap="square" lIns="0" rIns="0" tIns="0" bIns="0" anchor="ctr">
            <a:spAutoFit/>
          </a:bodyPr>
          <a:lstStyle/>
          <a:p>
            <a:pPr algn="ctr">
              <a:lnSpc>
                <a:spcPct val="92000"/>
              </a:lnSpc>
            </a:pPr>
            <a:r>
              <a:rPr sz="2500" b="1" i="0">
                <a:solidFill>
                  <a:srgbClr val="4C5928"/>
                </a:solidFill>
                <a:latin typeface="Georgia"/>
              </a:rPr>
              <a:t>Konsep Dasar dan Justifikasi </a:t>
            </a:r>
            <a:r>
              <a:rPr sz="2500" b="1" i="1">
                <a:solidFill>
                  <a:srgbClr val="4C5928"/>
                </a:solidFill>
                <a:latin typeface="Georgia"/>
              </a:rPr>
              <a:t>Kroya Smart Unified Market</a:t>
            </a:r>
          </a:p>
        </p:txBody>
      </p:sp>
      <p:sp>
        <p:nvSpPr>
          <p:cNvPr id="10" name="Rectangle 9"/>
          <p:cNvSpPr/>
          <p:nvPr/>
        </p:nvSpPr>
        <p:spPr>
          <a:xfrm>
            <a:off x="411480" y="1335024"/>
            <a:ext cx="3456432" cy="4919472"/>
          </a:xfrm>
          <a:prstGeom prst="rect">
            <a:avLst/>
          </a:prstGeom>
          <a:no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73568" y="1335024"/>
            <a:ext cx="3803904" cy="4919472"/>
          </a:xfrm>
          <a:prstGeom prst="rect">
            <a:avLst/>
          </a:prstGeom>
          <a:no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380744"/>
            <a:ext cx="3364991" cy="274320"/>
          </a:xfrm>
          <a:prstGeom prst="rect">
            <a:avLst/>
          </a:prstGeom>
          <a:solidFill>
            <a:srgbClr val="FFFFFF"/>
          </a:solid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1000" b="1" i="0">
                <a:solidFill>
                  <a:srgbClr val="364025"/>
                </a:solidFill>
                <a:latin typeface="Arial"/>
              </a:rPr>
              <a:t>KONDISI EKSISTING</a:t>
            </a:r>
          </a:p>
        </p:txBody>
      </p:sp>
      <p:sp>
        <p:nvSpPr>
          <p:cNvPr id="13" name="Rectangle 12"/>
          <p:cNvSpPr/>
          <p:nvPr/>
        </p:nvSpPr>
        <p:spPr>
          <a:xfrm>
            <a:off x="8019288" y="1380744"/>
            <a:ext cx="3712464" cy="274320"/>
          </a:xfrm>
          <a:prstGeom prst="rect">
            <a:avLst/>
          </a:prstGeom>
          <a:solidFill>
            <a:srgbClr val="FFFFFF"/>
          </a:solid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1000" b="1" i="0">
                <a:solidFill>
                  <a:srgbClr val="364025"/>
                </a:solidFill>
                <a:latin typeface="Arial"/>
              </a:rPr>
              <a:t>IMPLEMENTASI</a:t>
            </a:r>
          </a:p>
        </p:txBody>
      </p:sp>
      <p:sp>
        <p:nvSpPr>
          <p:cNvPr id="14" name="Rectangle 13"/>
          <p:cNvSpPr/>
          <p:nvPr/>
        </p:nvSpPr>
        <p:spPr>
          <a:xfrm>
            <a:off x="4133087" y="1554480"/>
            <a:ext cx="3529584" cy="4700016"/>
          </a:xfrm>
          <a:prstGeom prst="rect">
            <a:avLst/>
          </a:prstGeom>
          <a:no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t" wrap="square" lIns="201168" rIns="201168" tIns="384048" bIns="128016"/>
          <a:lstStyle/>
          <a:p>
            <a:pPr algn="just">
              <a:lnSpc>
                <a:spcPct val="114000"/>
              </a:lnSpc>
            </a:pPr>
            <a:r>
              <a:rPr sz="1100" b="1" i="1">
                <a:solidFill>
                  <a:srgbClr val="364025"/>
                </a:solidFill>
                <a:latin typeface="Arial"/>
              </a:rPr>
              <a:t>Kroya Smart Unified Market</a:t>
            </a:r>
            <a:r>
              <a:rPr sz="1100" b="0" i="0">
                <a:solidFill>
                  <a:srgbClr val="364025"/>
                </a:solidFill>
                <a:latin typeface="Arial"/>
              </a:rPr>
              <a:t> merupakan konsep penataan kawasan perdagangan yang menyatukan pasar induk, blok kios pendukung hasil konsolidasi pedagang informal, ruang publik, serta tata kelolanya ke dalam satu sistem kawasan. </a:t>
            </a:r>
            <a:r>
              <a:rPr sz="1100" b="1" i="1">
                <a:solidFill>
                  <a:srgbClr val="364025"/>
                </a:solidFill>
                <a:latin typeface="Arial"/>
              </a:rPr>
              <a:t>Unified</a:t>
            </a:r>
            <a:r>
              <a:rPr sz="1100" b="0" i="0">
                <a:solidFill>
                  <a:srgbClr val="364025"/>
                </a:solidFill>
                <a:latin typeface="Arial"/>
              </a:rPr>
              <a:t> berarti satu kawasan dagang terpadu, bukan satu bangunan, sedangkan </a:t>
            </a:r>
            <a:r>
              <a:rPr sz="1100" b="1" i="1">
                <a:solidFill>
                  <a:srgbClr val="364025"/>
                </a:solidFill>
                <a:latin typeface="Arial"/>
              </a:rPr>
              <a:t>smart</a:t>
            </a:r>
            <a:r>
              <a:rPr sz="1100" b="0" i="0">
                <a:solidFill>
                  <a:srgbClr val="364025"/>
                </a:solidFill>
                <a:latin typeface="Arial"/>
              </a:rPr>
              <a:t> berarti satu sistem digital kawasan bagi seluruh pelaku usaha di dalamnya.</a:t>
            </a:r>
          </a:p>
          <a:p>
            <a:pPr algn="just">
              <a:lnSpc>
                <a:spcPct val="114000"/>
              </a:lnSpc>
              <a:spcBef>
                <a:spcPts val="900"/>
              </a:spcBef>
            </a:pPr>
            <a:r>
              <a:rPr sz="1100" b="0" i="0">
                <a:solidFill>
                  <a:srgbClr val="364025"/>
                </a:solidFill>
                <a:latin typeface="Arial"/>
              </a:rPr>
              <a:t>Konsep ini bertujuan </a:t>
            </a:r>
            <a:r>
              <a:rPr sz="1100" b="1" i="0">
                <a:solidFill>
                  <a:srgbClr val="364025"/>
                </a:solidFill>
                <a:latin typeface="Arial"/>
              </a:rPr>
              <a:t>mengembalikan setiap aktivitas ke ruang yang disediakan untuknya</a:t>
            </a:r>
            <a:r>
              <a:rPr sz="1100" b="0" i="0">
                <a:solidFill>
                  <a:srgbClr val="364025"/>
                </a:solidFill>
                <a:latin typeface="Arial"/>
              </a:rPr>
              <a:t> — berdagang ke ruang dagang, bongkar-muat ke zona bongkar-muat, dan berjalan kaki ke jalur pejalan kaki — sehingga badan Jl. Ahmad Yani kembali berfungsi sebagai jalur pergerakan dan </a:t>
            </a:r>
            <a:r>
              <a:rPr sz="1100" b="1" i="0">
                <a:solidFill>
                  <a:srgbClr val="364025"/>
                </a:solidFill>
                <a:latin typeface="Arial"/>
              </a:rPr>
              <a:t>Pasar Induk Kroya berfungsi sebagai penggerak utama ekonomi kawasan.</a:t>
            </a:r>
          </a:p>
          <a:p>
            <a:pPr algn="just">
              <a:lnSpc>
                <a:spcPct val="114000"/>
              </a:lnSpc>
              <a:spcBef>
                <a:spcPts val="900"/>
              </a:spcBef>
            </a:pPr>
            <a:r>
              <a:rPr sz="1100" b="0" i="0">
                <a:solidFill>
                  <a:srgbClr val="364025"/>
                </a:solidFill>
                <a:latin typeface="Arial"/>
              </a:rPr>
              <a:t>Penataan kawasan ini menempel pada rehabilitasi bangunan utama Pasar Induk Kroya oleh Kementerian PU (Rp51 miliar, TA 2026), sehingga keduanya berjalan sebagai satu kesatuan.</a:t>
            </a:r>
          </a:p>
        </p:txBody>
      </p:sp>
      <p:sp>
        <p:nvSpPr>
          <p:cNvPr id="15" name="Rounded Rectangle 14"/>
          <p:cNvSpPr/>
          <p:nvPr/>
        </p:nvSpPr>
        <p:spPr>
          <a:xfrm>
            <a:off x="4361688" y="1316736"/>
            <a:ext cx="3072384" cy="420624"/>
          </a:xfrm>
          <a:prstGeom prst="roundRect">
            <a:avLst>
              <a:gd name="adj" fmla="val 32000"/>
            </a:avLst>
          </a:prstGeom>
          <a:gradFill rotWithShape="1">
            <a:gsLst>
              <a:gs pos="0">
                <a:srgbClr val="CAD4A2"/>
              </a:gs>
              <a:gs pos="100000">
                <a:srgbClr val="6A776D"/>
              </a:gs>
            </a:gsLst>
            <a:lin scaled="0" ang="0"/>
          </a:grad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1600" b="1" i="0">
                <a:solidFill>
                  <a:srgbClr val="FFFFFF"/>
                </a:solidFill>
                <a:latin typeface="Arial"/>
              </a:rPr>
              <a:t>Konsep</a:t>
            </a:r>
          </a:p>
        </p:txBody>
      </p:sp>
      <p:sp>
        <p:nvSpPr>
          <p:cNvPr id="16" name="Rectangle 15"/>
          <p:cNvSpPr/>
          <p:nvPr/>
        </p:nvSpPr>
        <p:spPr>
          <a:xfrm>
            <a:off x="502920" y="1737360"/>
            <a:ext cx="3273551" cy="219456"/>
          </a:xfrm>
          <a:prstGeom prst="rect">
            <a:avLst/>
          </a:prstGeom>
          <a:solidFill>
            <a:srgbClr val="FFFFFF"/>
          </a:solid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800" b="1" i="0">
                <a:solidFill>
                  <a:srgbClr val="364025"/>
                </a:solidFill>
                <a:latin typeface="Arial"/>
              </a:rPr>
              <a:t>AKTIVITAS DAN MOBILITAS</a:t>
            </a:r>
          </a:p>
        </p:txBody>
      </p:sp>
      <p:sp>
        <p:nvSpPr>
          <p:cNvPr id="17" name="Rectangle 16"/>
          <p:cNvSpPr/>
          <p:nvPr/>
        </p:nvSpPr>
        <p:spPr>
          <a:xfrm>
            <a:off x="502920" y="1993391"/>
            <a:ext cx="3273551" cy="548640"/>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2000"/>
              </a:lnSpc>
            </a:pPr>
            <a:r>
              <a:rPr sz="840" b="0" i="0">
                <a:solidFill>
                  <a:srgbClr val="FFFFFF"/>
                </a:solidFill>
                <a:latin typeface="Arial"/>
              </a:rPr>
              <a:t>Keberadaan pasar, sekolah, dan permukiman menciptakan keragaman fungsi dan interaksi masyarakat yang kuat.</a:t>
            </a:r>
          </a:p>
        </p:txBody>
      </p:sp>
      <p:sp>
        <p:nvSpPr>
          <p:cNvPr id="18" name="Rectangle 17"/>
          <p:cNvSpPr/>
          <p:nvPr/>
        </p:nvSpPr>
        <p:spPr>
          <a:xfrm>
            <a:off x="502920" y="2578608"/>
            <a:ext cx="3273551" cy="548640"/>
          </a:xfrm>
          <a:prstGeom prst="rect">
            <a:avLst/>
          </a:prstGeom>
          <a:solidFill>
            <a:srgbClr val="7B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2000"/>
              </a:lnSpc>
            </a:pPr>
            <a:r>
              <a:rPr sz="840" b="0" i="0">
                <a:solidFill>
                  <a:srgbClr val="FFFFFF"/>
                </a:solidFill>
                <a:latin typeface="Arial"/>
              </a:rPr>
              <a:t>Kemacetan di sepanjang Jl. Jenderal Ahmad Yani karena PKL dan bongkar-muat menempati badan jalan, diperparah antrean 147 perjalanan kereta api per hari.</a:t>
            </a:r>
          </a:p>
        </p:txBody>
      </p:sp>
      <p:sp>
        <p:nvSpPr>
          <p:cNvPr id="19" name="Rectangle 18"/>
          <p:cNvSpPr/>
          <p:nvPr/>
        </p:nvSpPr>
        <p:spPr>
          <a:xfrm>
            <a:off x="502920" y="3236976"/>
            <a:ext cx="3273551" cy="219456"/>
          </a:xfrm>
          <a:prstGeom prst="rect">
            <a:avLst/>
          </a:prstGeom>
          <a:solidFill>
            <a:srgbClr val="FFFFFF"/>
          </a:solid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800" b="1" i="0">
                <a:solidFill>
                  <a:srgbClr val="364025"/>
                </a:solidFill>
                <a:latin typeface="Arial"/>
              </a:rPr>
              <a:t>PERDAGANGAN PASAR INDUK</a:t>
            </a:r>
          </a:p>
        </p:txBody>
      </p:sp>
      <p:sp>
        <p:nvSpPr>
          <p:cNvPr id="20" name="Rectangle 19"/>
          <p:cNvSpPr/>
          <p:nvPr/>
        </p:nvSpPr>
        <p:spPr>
          <a:xfrm>
            <a:off x="502920" y="3493008"/>
            <a:ext cx="3273551" cy="548640"/>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2000"/>
              </a:lnSpc>
            </a:pPr>
            <a:r>
              <a:rPr sz="840" b="0" i="0">
                <a:solidFill>
                  <a:srgbClr val="FFFFFF"/>
                </a:solidFill>
                <a:latin typeface="Arial"/>
              </a:rPr>
              <a:t>Pasar Induk Kroya berkapasitas 1.616 pedagang (248 kios, 1.148 los, 220 lemprakan) menjadikan Kawasan Kroya pusat perdagangan dan distribusi barang.</a:t>
            </a:r>
          </a:p>
        </p:txBody>
      </p:sp>
      <p:sp>
        <p:nvSpPr>
          <p:cNvPr id="21" name="Rectangle 20"/>
          <p:cNvSpPr/>
          <p:nvPr/>
        </p:nvSpPr>
        <p:spPr>
          <a:xfrm>
            <a:off x="502920" y="4078224"/>
            <a:ext cx="3273551" cy="548640"/>
          </a:xfrm>
          <a:prstGeom prst="rect">
            <a:avLst/>
          </a:prstGeom>
          <a:solidFill>
            <a:srgbClr val="7B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2000"/>
              </a:lnSpc>
            </a:pPr>
            <a:r>
              <a:rPr sz="840" b="0" i="0">
                <a:solidFill>
                  <a:srgbClr val="FFFFFF"/>
                </a:solidFill>
                <a:latin typeface="Arial"/>
              </a:rPr>
              <a:t>Mangkraknya revitalisasi Pasar Induk Kroya membuat pedagang berjualan di lokasi sementara berfasilitas terbatas, sehingga pendapatan pedagang menurun.</a:t>
            </a:r>
          </a:p>
        </p:txBody>
      </p:sp>
      <p:sp>
        <p:nvSpPr>
          <p:cNvPr id="22" name="Rectangle 21"/>
          <p:cNvSpPr/>
          <p:nvPr/>
        </p:nvSpPr>
        <p:spPr>
          <a:xfrm>
            <a:off x="502920" y="4736592"/>
            <a:ext cx="3273551" cy="219456"/>
          </a:xfrm>
          <a:prstGeom prst="rect">
            <a:avLst/>
          </a:prstGeom>
          <a:solidFill>
            <a:srgbClr val="FFFFFF"/>
          </a:solidFill>
          <a:ln w="15875">
            <a:solidFill>
              <a:srgbClr val="364025"/>
            </a:solid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800" b="1" i="0">
                <a:solidFill>
                  <a:srgbClr val="364025"/>
                </a:solidFill>
                <a:latin typeface="Arial"/>
              </a:rPr>
              <a:t>SIRKULASI DAN JALUR PEJALAN KAKI</a:t>
            </a:r>
          </a:p>
        </p:txBody>
      </p:sp>
      <p:sp>
        <p:nvSpPr>
          <p:cNvPr id="23" name="Rectangle 22"/>
          <p:cNvSpPr/>
          <p:nvPr/>
        </p:nvSpPr>
        <p:spPr>
          <a:xfrm>
            <a:off x="502920" y="4992624"/>
            <a:ext cx="3273551" cy="548640"/>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2000"/>
              </a:lnSpc>
            </a:pPr>
            <a:r>
              <a:rPr sz="840" b="0" i="0">
                <a:solidFill>
                  <a:srgbClr val="FFFFFF"/>
                </a:solidFill>
                <a:latin typeface="Arial"/>
              </a:rPr>
              <a:t>Konektivitas tinggi didukung jalan kolektor primer yang terhubung dengan jalan nasional, sehingga memudahkan mobilisasi barang dan orang.</a:t>
            </a:r>
          </a:p>
        </p:txBody>
      </p:sp>
      <p:sp>
        <p:nvSpPr>
          <p:cNvPr id="24" name="Rectangle 23"/>
          <p:cNvSpPr/>
          <p:nvPr/>
        </p:nvSpPr>
        <p:spPr>
          <a:xfrm>
            <a:off x="502920" y="5577840"/>
            <a:ext cx="3273551" cy="548640"/>
          </a:xfrm>
          <a:prstGeom prst="rect">
            <a:avLst/>
          </a:prstGeom>
          <a:solidFill>
            <a:srgbClr val="7B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2000"/>
              </a:lnSpc>
            </a:pPr>
            <a:r>
              <a:rPr sz="840" b="0" i="0">
                <a:solidFill>
                  <a:srgbClr val="FFFFFF"/>
                </a:solidFill>
                <a:latin typeface="Arial"/>
              </a:rPr>
              <a:t>Kebutuhan jalur pejalan kaki dan pesepeda belum terpenuhi di sepanjang koridor utama Jl. Ahmad Yani, sehingga ruang gerak terbatas dan berisiko.</a:t>
            </a:r>
          </a:p>
        </p:txBody>
      </p:sp>
      <p:sp>
        <p:nvSpPr>
          <p:cNvPr id="25" name="Rectangle 24"/>
          <p:cNvSpPr/>
          <p:nvPr/>
        </p:nvSpPr>
        <p:spPr>
          <a:xfrm>
            <a:off x="8065008" y="1737360"/>
            <a:ext cx="3621024" cy="1012698"/>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a:lstStyle/>
          <a:p>
            <a:pPr algn="just">
              <a:lnSpc>
                <a:spcPct val="106000"/>
              </a:lnSpc>
            </a:pPr>
            <a:r>
              <a:rPr sz="960" b="1" i="0">
                <a:solidFill>
                  <a:srgbClr val="FFFFFF"/>
                </a:solidFill>
                <a:latin typeface="Arial"/>
              </a:rPr>
              <a:t>Konsolidasi ruang dagang. </a:t>
            </a:r>
            <a:r>
              <a:rPr sz="960" b="0" i="0">
                <a:solidFill>
                  <a:srgbClr val="FFFFFF"/>
                </a:solidFill>
                <a:latin typeface="Arial"/>
              </a:rPr>
              <a:t>Pedagang yang menempati bahu Jl. Ahmad Yani dan muka ruko ditarik masuk ke blok kios pendukung yang dibangun di lahan sekitar bangunan utama dan tersambung dengannya, sehingga aktivitas dagang keluar dari badan jalan.</a:t>
            </a:r>
          </a:p>
        </p:txBody>
      </p:sp>
      <p:sp>
        <p:nvSpPr>
          <p:cNvPr id="26" name="Rectangle 25"/>
          <p:cNvSpPr/>
          <p:nvPr/>
        </p:nvSpPr>
        <p:spPr>
          <a:xfrm>
            <a:off x="8065008" y="2868930"/>
            <a:ext cx="3621024" cy="1012698"/>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a:lstStyle/>
          <a:p>
            <a:pPr algn="just">
              <a:lnSpc>
                <a:spcPct val="106000"/>
              </a:lnSpc>
            </a:pPr>
            <a:r>
              <a:rPr sz="960" b="1" i="0">
                <a:solidFill>
                  <a:srgbClr val="FFFFFF"/>
                </a:solidFill>
                <a:latin typeface="Arial"/>
              </a:rPr>
              <a:t>Penataan pergerakan kawasan. </a:t>
            </a:r>
            <a:r>
              <a:rPr sz="960" b="0" i="0">
                <a:solidFill>
                  <a:srgbClr val="FFFFFF"/>
                </a:solidFill>
                <a:latin typeface="Arial"/>
              </a:rPr>
              <a:t>Zona bongkar-muat, parkir logistik, dan ruang antrean perlintasan dipindahkan ke dalam tapak, dengan sirkulasi terpisah bagi pengunjung, pedagang, dan kendaraan barang melalui pintu masuk yang berbeda.</a:t>
            </a:r>
          </a:p>
        </p:txBody>
      </p:sp>
      <p:sp>
        <p:nvSpPr>
          <p:cNvPr id="27" name="Rectangle 26"/>
          <p:cNvSpPr/>
          <p:nvPr/>
        </p:nvSpPr>
        <p:spPr>
          <a:xfrm>
            <a:off x="8065008" y="4000500"/>
            <a:ext cx="3621024" cy="1012698"/>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a:lstStyle/>
          <a:p>
            <a:pPr algn="just">
              <a:lnSpc>
                <a:spcPct val="106000"/>
              </a:lnSpc>
            </a:pPr>
            <a:r>
              <a:rPr sz="960" b="1" i="0">
                <a:solidFill>
                  <a:srgbClr val="FFFFFF"/>
                </a:solidFill>
                <a:latin typeface="Arial"/>
              </a:rPr>
              <a:t>Aktivasi ruang publik kawasan. </a:t>
            </a:r>
            <a:r>
              <a:rPr sz="960" b="0" i="0">
                <a:solidFill>
                  <a:srgbClr val="FFFFFF"/>
                </a:solidFill>
                <a:latin typeface="Arial"/>
              </a:rPr>
              <a:t>Plaza terbuka di antara bangunan utama dan blok kios pendukung, tersambung ke trotoar muka ruko, berfungsi sebagai ruang sirkulasi pada jam pasar dan ruang dagang UMKM pada sore serta akhir pekan.</a:t>
            </a:r>
          </a:p>
        </p:txBody>
      </p:sp>
      <p:sp>
        <p:nvSpPr>
          <p:cNvPr id="28" name="Rectangle 27"/>
          <p:cNvSpPr/>
          <p:nvPr/>
        </p:nvSpPr>
        <p:spPr>
          <a:xfrm>
            <a:off x="8065008" y="5132070"/>
            <a:ext cx="3621024" cy="1012698"/>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18872" rIns="118872"/>
          <a:lstStyle/>
          <a:p>
            <a:pPr algn="just">
              <a:lnSpc>
                <a:spcPct val="106000"/>
              </a:lnSpc>
            </a:pPr>
            <a:r>
              <a:rPr sz="960" b="1" i="0">
                <a:solidFill>
                  <a:srgbClr val="FFFFFF"/>
                </a:solidFill>
                <a:latin typeface="Arial"/>
              </a:rPr>
              <a:t>Satu sistem digital kawasan. </a:t>
            </a:r>
            <a:r>
              <a:rPr sz="960" b="0" i="0">
                <a:solidFill>
                  <a:srgbClr val="FFFFFF"/>
                </a:solidFill>
                <a:latin typeface="Arial"/>
              </a:rPr>
              <a:t>Retribusi, basis data pelaku usaha, dan promosi daring disatukan bagi pedagang pasar induk, penghuni blok kios pendukung, serta unit komersial dan UMKM di koridor.</a:t>
            </a:r>
          </a:p>
        </p:txBody>
      </p:sp>
      <p:cxnSp>
        <p:nvCxnSpPr>
          <p:cNvPr id="29" name="Connector 28"/>
          <p:cNvCxnSpPr/>
          <p:nvPr/>
        </p:nvCxnSpPr>
        <p:spPr>
          <a:xfrm flipV="1">
            <a:off x="3776472" y="1527048"/>
            <a:ext cx="585216" cy="740663"/>
          </a:xfrm>
          <a:prstGeom prst="line">
            <a:avLst/>
          </a:prstGeom>
          <a:ln w="13970">
            <a:solidFill>
              <a:srgbClr val="364025"/>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776472" y="1527048"/>
            <a:ext cx="585216" cy="2240280"/>
          </a:xfrm>
          <a:prstGeom prst="line">
            <a:avLst/>
          </a:prstGeom>
          <a:ln w="13970">
            <a:solidFill>
              <a:srgbClr val="36402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776472" y="1527048"/>
            <a:ext cx="585216" cy="3739896"/>
          </a:xfrm>
          <a:prstGeom prst="line">
            <a:avLst/>
          </a:prstGeom>
          <a:ln w="13970">
            <a:solidFill>
              <a:srgbClr val="36402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776472" y="1527048"/>
            <a:ext cx="585216" cy="1325879"/>
          </a:xfrm>
          <a:prstGeom prst="line">
            <a:avLst/>
          </a:prstGeom>
          <a:ln w="13970">
            <a:solidFill>
              <a:srgbClr val="7B00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776472" y="1527048"/>
            <a:ext cx="585216" cy="2825496"/>
          </a:xfrm>
          <a:prstGeom prst="line">
            <a:avLst/>
          </a:prstGeom>
          <a:ln w="13970">
            <a:solidFill>
              <a:srgbClr val="7B00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776472" y="1527048"/>
            <a:ext cx="585216" cy="4325111"/>
          </a:xfrm>
          <a:prstGeom prst="line">
            <a:avLst/>
          </a:prstGeom>
          <a:ln w="13970">
            <a:solidFill>
              <a:srgbClr val="7B00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434071" y="1527048"/>
            <a:ext cx="630937" cy="716661"/>
          </a:xfrm>
          <a:prstGeom prst="line">
            <a:avLst/>
          </a:prstGeom>
          <a:ln w="13970">
            <a:solidFill>
              <a:srgbClr val="36402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434071" y="1527048"/>
            <a:ext cx="630937" cy="1848231"/>
          </a:xfrm>
          <a:prstGeom prst="line">
            <a:avLst/>
          </a:prstGeom>
          <a:ln w="13970">
            <a:solidFill>
              <a:srgbClr val="36402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434071" y="1527048"/>
            <a:ext cx="630937" cy="2979801"/>
          </a:xfrm>
          <a:prstGeom prst="line">
            <a:avLst/>
          </a:prstGeom>
          <a:ln w="13970">
            <a:solidFill>
              <a:srgbClr val="364025"/>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434071" y="1527048"/>
            <a:ext cx="630937" cy="4111371"/>
          </a:xfrm>
          <a:prstGeom prst="line">
            <a:avLst/>
          </a:prstGeom>
          <a:ln w="13970">
            <a:solidFill>
              <a:srgbClr val="36402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178807" y="6428231"/>
            <a:ext cx="384048" cy="32004"/>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36007" y="6345936"/>
            <a:ext cx="1005840" cy="201168"/>
          </a:xfrm>
          <a:prstGeom prst="rect">
            <a:avLst/>
          </a:prstGeom>
          <a:noFill/>
        </p:spPr>
        <p:txBody>
          <a:bodyPr wrap="square" lIns="0" rIns="0" tIns="0" bIns="0" anchor="ctr">
            <a:spAutoFit/>
          </a:bodyPr>
          <a:lstStyle/>
          <a:p>
            <a:pPr algn="l">
              <a:lnSpc>
                <a:spcPct val="92000"/>
              </a:lnSpc>
            </a:pPr>
            <a:r>
              <a:rPr sz="900" b="0" i="0">
                <a:solidFill>
                  <a:srgbClr val="364025"/>
                </a:solidFill>
                <a:latin typeface="Arial"/>
              </a:rPr>
              <a:t>Potensi</a:t>
            </a:r>
          </a:p>
        </p:txBody>
      </p:sp>
      <p:sp>
        <p:nvSpPr>
          <p:cNvPr id="41" name="Rectangle 40"/>
          <p:cNvSpPr/>
          <p:nvPr/>
        </p:nvSpPr>
        <p:spPr>
          <a:xfrm>
            <a:off x="4178807" y="6629399"/>
            <a:ext cx="384048" cy="32004"/>
          </a:xfrm>
          <a:prstGeom prst="rect">
            <a:avLst/>
          </a:prstGeom>
          <a:solidFill>
            <a:srgbClr val="7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36007" y="6547103"/>
            <a:ext cx="1005840" cy="201168"/>
          </a:xfrm>
          <a:prstGeom prst="rect">
            <a:avLst/>
          </a:prstGeom>
          <a:noFill/>
        </p:spPr>
        <p:txBody>
          <a:bodyPr wrap="square" lIns="0" rIns="0" tIns="0" bIns="0" anchor="ctr">
            <a:spAutoFit/>
          </a:bodyPr>
          <a:lstStyle/>
          <a:p>
            <a:pPr algn="l">
              <a:lnSpc>
                <a:spcPct val="92000"/>
              </a:lnSpc>
            </a:pPr>
            <a:r>
              <a:rPr sz="900" b="0" i="0">
                <a:solidFill>
                  <a:srgbClr val="364025"/>
                </a:solidFill>
                <a:latin typeface="Arial"/>
              </a:rPr>
              <a:t>Masalah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dip.png"/>
          <p:cNvPicPr>
            <a:picLocks noChangeAspect="1"/>
          </p:cNvPicPr>
          <p:nvPr/>
        </p:nvPicPr>
        <p:blipFill>
          <a:blip r:embed="rId2"/>
          <a:stretch>
            <a:fillRect/>
          </a:stretch>
        </p:blipFill>
        <p:spPr>
          <a:xfrm>
            <a:off x="402336" y="146304"/>
            <a:ext cx="409651" cy="512064"/>
          </a:xfrm>
          <a:prstGeom prst="rect">
            <a:avLst/>
          </a:prstGeom>
        </p:spPr>
      </p:pic>
      <p:sp>
        <p:nvSpPr>
          <p:cNvPr id="4" name="Rectangle 3"/>
          <p:cNvSpPr/>
          <p:nvPr/>
        </p:nvSpPr>
        <p:spPr>
          <a:xfrm>
            <a:off x="932688" y="201168"/>
            <a:ext cx="20116" cy="411480"/>
          </a:xfrm>
          <a:prstGeom prst="rect">
            <a:avLst/>
          </a:prstGeom>
          <a:solidFill>
            <a:srgbClr val="4C5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18872"/>
            <a:ext cx="4206240" cy="566928"/>
          </a:xfrm>
          <a:prstGeom prst="rect">
            <a:avLst/>
          </a:prstGeom>
          <a:noFill/>
        </p:spPr>
        <p:txBody>
          <a:bodyPr wrap="square" lIns="0" rIns="0" tIns="0" bIns="0" anchor="ctr">
            <a:spAutoFit/>
          </a:bodyPr>
          <a:lstStyle/>
          <a:p>
            <a:pPr algn="l">
              <a:lnSpc>
                <a:spcPct val="95000"/>
              </a:lnSpc>
            </a:pPr>
            <a:r>
              <a:rPr sz="1300" b="1" i="0">
                <a:solidFill>
                  <a:srgbClr val="6A776D"/>
                </a:solidFill>
                <a:latin typeface="Arial"/>
              </a:rPr>
              <a:t>Departemen</a:t>
            </a:r>
          </a:p>
          <a:p>
            <a:pPr algn="l">
              <a:lnSpc>
                <a:spcPct val="95000"/>
              </a:lnSpc>
            </a:pPr>
            <a:r>
              <a:rPr sz="1450" b="1" i="0">
                <a:solidFill>
                  <a:srgbClr val="364025"/>
                </a:solidFill>
                <a:latin typeface="Arial"/>
              </a:rPr>
              <a:t>Perencanaan Wilayah dan Kota</a:t>
            </a:r>
          </a:p>
        </p:txBody>
      </p:sp>
      <p:sp>
        <p:nvSpPr>
          <p:cNvPr id="6" name="TextBox 5"/>
          <p:cNvSpPr txBox="1"/>
          <p:nvPr/>
        </p:nvSpPr>
        <p:spPr>
          <a:xfrm>
            <a:off x="7315200" y="91440"/>
            <a:ext cx="3218688" cy="603504"/>
          </a:xfrm>
          <a:prstGeom prst="rect">
            <a:avLst/>
          </a:prstGeom>
          <a:noFill/>
        </p:spPr>
        <p:txBody>
          <a:bodyPr wrap="square" lIns="0" rIns="0" tIns="0" bIns="0" anchor="ctr">
            <a:spAutoFit/>
          </a:bodyPr>
          <a:lstStyle/>
          <a:p>
            <a:pPr algn="r">
              <a:lnSpc>
                <a:spcPct val="95000"/>
              </a:lnSpc>
            </a:pPr>
            <a:r>
              <a:rPr sz="950" b="1" i="1">
                <a:solidFill>
                  <a:srgbClr val="4C5928"/>
                </a:solidFill>
                <a:latin typeface="Georgia"/>
              </a:rPr>
              <a:t>Perancangan Kota</a:t>
            </a:r>
          </a:p>
          <a:p>
            <a:pPr algn="r">
              <a:lnSpc>
                <a:spcPct val="95000"/>
              </a:lnSpc>
            </a:pPr>
            <a:r>
              <a:rPr sz="1250" b="1" i="0">
                <a:solidFill>
                  <a:srgbClr val="364025"/>
                </a:solidFill>
                <a:latin typeface="Georgia"/>
              </a:rPr>
              <a:t>Kecamatan Kroya</a:t>
            </a:r>
          </a:p>
          <a:p>
            <a:pPr algn="r">
              <a:lnSpc>
                <a:spcPct val="95000"/>
              </a:lnSpc>
            </a:pPr>
            <a:r>
              <a:rPr sz="900" b="1" i="0">
                <a:solidFill>
                  <a:srgbClr val="4C5928"/>
                </a:solidFill>
                <a:latin typeface="Georgia"/>
              </a:rPr>
              <a:t>Kabupaten Cilacap</a:t>
            </a:r>
          </a:p>
        </p:txBody>
      </p:sp>
      <p:sp>
        <p:nvSpPr>
          <p:cNvPr id="7" name="TextBox 6"/>
          <p:cNvSpPr txBox="1"/>
          <p:nvPr/>
        </p:nvSpPr>
        <p:spPr>
          <a:xfrm>
            <a:off x="10561320" y="54864"/>
            <a:ext cx="1225296" cy="658368"/>
          </a:xfrm>
          <a:prstGeom prst="rect">
            <a:avLst/>
          </a:prstGeom>
          <a:noFill/>
        </p:spPr>
        <p:txBody>
          <a:bodyPr wrap="square" lIns="0" rIns="0" tIns="0" bIns="0" anchor="ctr">
            <a:spAutoFit/>
          </a:bodyPr>
          <a:lstStyle/>
          <a:p>
            <a:pPr algn="r">
              <a:lnSpc>
                <a:spcPct val="92000"/>
              </a:lnSpc>
            </a:pPr>
            <a:r>
              <a:rPr sz="3000" b="1" i="0">
                <a:solidFill>
                  <a:srgbClr val="4C5928"/>
                </a:solidFill>
                <a:latin typeface="Georgia"/>
              </a:rPr>
              <a:t>D3.2</a:t>
            </a:r>
          </a:p>
        </p:txBody>
      </p:sp>
      <p:sp>
        <p:nvSpPr>
          <p:cNvPr id="8" name="Rectangle 7"/>
          <p:cNvSpPr/>
          <p:nvPr/>
        </p:nvSpPr>
        <p:spPr>
          <a:xfrm>
            <a:off x="402336" y="731520"/>
            <a:ext cx="11387297" cy="25603"/>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22960"/>
            <a:ext cx="11094689" cy="566928"/>
          </a:xfrm>
          <a:prstGeom prst="rect">
            <a:avLst/>
          </a:prstGeom>
          <a:noFill/>
        </p:spPr>
        <p:txBody>
          <a:bodyPr wrap="square" lIns="0" rIns="0" tIns="0" bIns="0" anchor="ctr">
            <a:spAutoFit/>
          </a:bodyPr>
          <a:lstStyle/>
          <a:p>
            <a:pPr algn="ctr">
              <a:lnSpc>
                <a:spcPct val="92000"/>
              </a:lnSpc>
            </a:pPr>
            <a:r>
              <a:rPr sz="2800" b="1" i="0">
                <a:solidFill>
                  <a:srgbClr val="4C5928"/>
                </a:solidFill>
                <a:latin typeface="Georgia"/>
              </a:rPr>
              <a:t>Konsep Dasar </a:t>
            </a:r>
            <a:r>
              <a:rPr sz="2800" b="1" i="1">
                <a:solidFill>
                  <a:srgbClr val="4C5928"/>
                </a:solidFill>
                <a:latin typeface="Georgia"/>
              </a:rPr>
              <a:t>Kroya Smart Unified Market</a:t>
            </a:r>
          </a:p>
        </p:txBody>
      </p:sp>
      <p:sp>
        <p:nvSpPr>
          <p:cNvPr id="10" name="Rectangle 9"/>
          <p:cNvSpPr/>
          <p:nvPr/>
        </p:nvSpPr>
        <p:spPr>
          <a:xfrm>
            <a:off x="1935464" y="1463040"/>
            <a:ext cx="8321040" cy="237744"/>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900" b="1" i="0">
                <a:solidFill>
                  <a:srgbClr val="FFFFFF"/>
                </a:solidFill>
                <a:latin typeface="Arial"/>
              </a:rPr>
              <a:t>K  O  N  S  E  P</a:t>
            </a:r>
          </a:p>
        </p:txBody>
      </p:sp>
      <p:sp>
        <p:nvSpPr>
          <p:cNvPr id="11" name="Rectangle 10"/>
          <p:cNvSpPr/>
          <p:nvPr/>
        </p:nvSpPr>
        <p:spPr>
          <a:xfrm>
            <a:off x="1935464" y="1746504"/>
            <a:ext cx="8321040" cy="548640"/>
          </a:xfrm>
          <a:prstGeom prst="rect">
            <a:avLst/>
          </a:prstGeom>
          <a:solidFill>
            <a:srgbClr val="384522"/>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lnSpc>
                <a:spcPct val="100000"/>
              </a:lnSpc>
            </a:pPr>
            <a:r>
              <a:rPr sz="1450" b="1" i="0">
                <a:solidFill>
                  <a:srgbClr val="FFFFFF"/>
                </a:solidFill>
                <a:latin typeface="Arial"/>
              </a:rPr>
              <a:t>Pasar Induk Kroya sebagai Kawasan Dagang Terpadu (</a:t>
            </a:r>
            <a:r>
              <a:rPr sz="1450" b="1" i="1">
                <a:solidFill>
                  <a:srgbClr val="FFFFFF"/>
                </a:solidFill>
                <a:latin typeface="Arial"/>
              </a:rPr>
              <a:t>Kroya Smart Unified Market</a:t>
            </a:r>
            <a:r>
              <a:rPr sz="1450" b="1" i="0">
                <a:solidFill>
                  <a:srgbClr val="FFFFFF"/>
                </a:solidFill>
                <a:latin typeface="Arial"/>
              </a:rPr>
              <a:t>)</a:t>
            </a:r>
          </a:p>
        </p:txBody>
      </p:sp>
      <p:cxnSp>
        <p:nvCxnSpPr>
          <p:cNvPr id="12" name="Connector 11"/>
          <p:cNvCxnSpPr/>
          <p:nvPr/>
        </p:nvCxnSpPr>
        <p:spPr>
          <a:xfrm flipV="1">
            <a:off x="6095984" y="2340864"/>
            <a:ext cx="0" cy="329184"/>
          </a:xfrm>
          <a:prstGeom prst="line">
            <a:avLst/>
          </a:prstGeom>
          <a:ln w="19050">
            <a:solidFill>
              <a:srgbClr val="36402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078464" y="2697480"/>
            <a:ext cx="6035040" cy="228600"/>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850" b="1" i="0">
                <a:solidFill>
                  <a:srgbClr val="FFFFFF"/>
                </a:solidFill>
                <a:latin typeface="Arial"/>
              </a:rPr>
              <a:t>T  U  J  U  A  N     U  T  A  M  A</a:t>
            </a:r>
          </a:p>
        </p:txBody>
      </p:sp>
      <p:sp>
        <p:nvSpPr>
          <p:cNvPr id="14" name="Rectangle 13"/>
          <p:cNvSpPr/>
          <p:nvPr/>
        </p:nvSpPr>
        <p:spPr>
          <a:xfrm>
            <a:off x="3078464" y="2971800"/>
            <a:ext cx="6035040" cy="585216"/>
          </a:xfrm>
          <a:prstGeom prst="rect">
            <a:avLst/>
          </a:prstGeom>
          <a:solidFill>
            <a:srgbClr val="806A41"/>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rIns="256032"/>
          <a:lstStyle/>
          <a:p>
            <a:pPr algn="ctr">
              <a:lnSpc>
                <a:spcPct val="104000"/>
              </a:lnSpc>
            </a:pPr>
            <a:r>
              <a:rPr sz="1050" b="1" i="0">
                <a:solidFill>
                  <a:srgbClr val="FFFFFF"/>
                </a:solidFill>
                <a:latin typeface="Arial"/>
              </a:rPr>
              <a:t>Mewujudkan kawasan Pasar Induk Kroya yang terkonsolidasi, tertata, aktif, dan terdigitalisasi sebagai penggerak utama ekonomi kawasan strategis regional Kroya.</a:t>
            </a:r>
          </a:p>
        </p:txBody>
      </p:sp>
      <p:cxnSp>
        <p:nvCxnSpPr>
          <p:cNvPr id="15" name="Connector 14"/>
          <p:cNvCxnSpPr/>
          <p:nvPr/>
        </p:nvCxnSpPr>
        <p:spPr>
          <a:xfrm flipV="1">
            <a:off x="6095984" y="3602736"/>
            <a:ext cx="0" cy="292608"/>
          </a:xfrm>
          <a:prstGeom prst="line">
            <a:avLst/>
          </a:prstGeom>
          <a:ln w="19050">
            <a:solidFill>
              <a:srgbClr val="36402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307064" y="3922776"/>
            <a:ext cx="5577840" cy="228600"/>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850" b="1" i="0">
                <a:solidFill>
                  <a:srgbClr val="FFFFFF"/>
                </a:solidFill>
                <a:latin typeface="Arial"/>
              </a:rPr>
              <a:t>I  S  U     U  T  A  M  A</a:t>
            </a:r>
          </a:p>
        </p:txBody>
      </p:sp>
      <p:sp>
        <p:nvSpPr>
          <p:cNvPr id="17" name="Rectangle 16"/>
          <p:cNvSpPr/>
          <p:nvPr/>
        </p:nvSpPr>
        <p:spPr>
          <a:xfrm>
            <a:off x="3307064" y="4197096"/>
            <a:ext cx="5577840" cy="566928"/>
          </a:xfrm>
          <a:prstGeom prst="rect">
            <a:avLst/>
          </a:prstGeom>
          <a:solidFill>
            <a:srgbClr val="29405D"/>
          </a:solidFill>
          <a:ln>
            <a:noFill/>
          </a:ln>
        </p:spPr>
        <p:style>
          <a:lnRef idx="1">
            <a:schemeClr val="accent1"/>
          </a:lnRef>
          <a:fillRef idx="3">
            <a:schemeClr val="accent1"/>
          </a:fillRef>
          <a:effectRef idx="2">
            <a:schemeClr val="accent1"/>
          </a:effectRef>
          <a:fontRef idx="minor">
            <a:schemeClr val="lt1"/>
          </a:fontRef>
        </p:style>
        <p:txBody>
          <a:bodyPr rtlCol="0" anchor="ctr" wrap="square" lIns="201168" rIns="201168"/>
          <a:lstStyle/>
          <a:p>
            <a:pPr algn="ctr">
              <a:lnSpc>
                <a:spcPct val="104000"/>
              </a:lnSpc>
            </a:pPr>
            <a:r>
              <a:rPr sz="1050" b="1" i="0">
                <a:solidFill>
                  <a:srgbClr val="FFFFFF"/>
                </a:solidFill>
                <a:latin typeface="Arial"/>
              </a:rPr>
              <a:t>Belum optimalnya pengelolaan dan penataan kawasan Pasar Induk Kroya sebagai penggerak utama ekonomi kawasan strategis regional Kroya.</a:t>
            </a:r>
          </a:p>
        </p:txBody>
      </p:sp>
      <p:sp>
        <p:nvSpPr>
          <p:cNvPr id="18" name="Rectangle 17"/>
          <p:cNvSpPr/>
          <p:nvPr/>
        </p:nvSpPr>
        <p:spPr>
          <a:xfrm>
            <a:off x="438912" y="5157216"/>
            <a:ext cx="1756150" cy="237744"/>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900" b="1" i="0">
                <a:solidFill>
                  <a:srgbClr val="FFFFFF"/>
                </a:solidFill>
                <a:latin typeface="Arial"/>
              </a:rPr>
              <a:t>P  O  T  E  N  S  I</a:t>
            </a:r>
          </a:p>
        </p:txBody>
      </p:sp>
      <p:sp>
        <p:nvSpPr>
          <p:cNvPr id="19" name="Rectangle 18"/>
          <p:cNvSpPr/>
          <p:nvPr/>
        </p:nvSpPr>
        <p:spPr>
          <a:xfrm>
            <a:off x="438912" y="5431536"/>
            <a:ext cx="1756150" cy="1280160"/>
          </a:xfrm>
          <a:prstGeom prst="rect">
            <a:avLst/>
          </a:prstGeom>
          <a:solidFill>
            <a:srgbClr val="384522"/>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lnSpc>
                <a:spcPct val="104000"/>
              </a:lnSpc>
            </a:pPr>
            <a:r>
              <a:rPr sz="819" b="1" i="0">
                <a:solidFill>
                  <a:srgbClr val="FFFFFF"/>
                </a:solidFill>
                <a:latin typeface="Arial"/>
              </a:rPr>
              <a:t>Keberadaan pasar, sekolah, dan permukiman menciptakan keragaman fungsi dan interaksi masyarakat yang kuat.</a:t>
            </a:r>
          </a:p>
        </p:txBody>
      </p:sp>
      <p:sp>
        <p:nvSpPr>
          <p:cNvPr id="20" name="Rectangle 19"/>
          <p:cNvSpPr/>
          <p:nvPr/>
        </p:nvSpPr>
        <p:spPr>
          <a:xfrm>
            <a:off x="2350510" y="5157216"/>
            <a:ext cx="1756150" cy="237744"/>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900" b="1" i="0">
                <a:solidFill>
                  <a:srgbClr val="FFFFFF"/>
                </a:solidFill>
                <a:latin typeface="Arial"/>
              </a:rPr>
              <a:t>P  O  T  E  N  S  I</a:t>
            </a:r>
          </a:p>
        </p:txBody>
      </p:sp>
      <p:sp>
        <p:nvSpPr>
          <p:cNvPr id="21" name="Rectangle 20"/>
          <p:cNvSpPr/>
          <p:nvPr/>
        </p:nvSpPr>
        <p:spPr>
          <a:xfrm>
            <a:off x="2350510" y="5431536"/>
            <a:ext cx="1756150" cy="1280160"/>
          </a:xfrm>
          <a:prstGeom prst="rect">
            <a:avLst/>
          </a:prstGeom>
          <a:solidFill>
            <a:srgbClr val="384522"/>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lnSpc>
                <a:spcPct val="104000"/>
              </a:lnSpc>
            </a:pPr>
            <a:r>
              <a:rPr sz="819" b="1" i="0">
                <a:solidFill>
                  <a:srgbClr val="FFFFFF"/>
                </a:solidFill>
                <a:latin typeface="Arial"/>
              </a:rPr>
              <a:t>Pasar Induk Kroya berkapasitas 1.616 pedagang menjadikan Kawasan Kroya pusat perdagangan dan distribusi barang.</a:t>
            </a:r>
          </a:p>
        </p:txBody>
      </p:sp>
      <p:sp>
        <p:nvSpPr>
          <p:cNvPr id="22" name="Rectangle 21"/>
          <p:cNvSpPr/>
          <p:nvPr/>
        </p:nvSpPr>
        <p:spPr>
          <a:xfrm>
            <a:off x="4262109" y="5157216"/>
            <a:ext cx="1756150" cy="237744"/>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900" b="1" i="0">
                <a:solidFill>
                  <a:srgbClr val="FFFFFF"/>
                </a:solidFill>
                <a:latin typeface="Arial"/>
              </a:rPr>
              <a:t>P  O  T  E  N  S  I</a:t>
            </a:r>
          </a:p>
        </p:txBody>
      </p:sp>
      <p:sp>
        <p:nvSpPr>
          <p:cNvPr id="23" name="Rectangle 22"/>
          <p:cNvSpPr/>
          <p:nvPr/>
        </p:nvSpPr>
        <p:spPr>
          <a:xfrm>
            <a:off x="4262109" y="5431536"/>
            <a:ext cx="1756150" cy="1280160"/>
          </a:xfrm>
          <a:prstGeom prst="rect">
            <a:avLst/>
          </a:prstGeom>
          <a:solidFill>
            <a:srgbClr val="384522"/>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lnSpc>
                <a:spcPct val="104000"/>
              </a:lnSpc>
            </a:pPr>
            <a:r>
              <a:rPr sz="819" b="1" i="0">
                <a:solidFill>
                  <a:srgbClr val="FFFFFF"/>
                </a:solidFill>
                <a:latin typeface="Arial"/>
              </a:rPr>
              <a:t>Konektivitas tinggi didukung jalan kolektor yang terhubung dengan jalan nasional, sehingga memudahkan mobilisasi barang dan orang.</a:t>
            </a:r>
          </a:p>
        </p:txBody>
      </p:sp>
      <p:sp>
        <p:nvSpPr>
          <p:cNvPr id="24" name="Rectangle 23"/>
          <p:cNvSpPr/>
          <p:nvPr/>
        </p:nvSpPr>
        <p:spPr>
          <a:xfrm>
            <a:off x="6173708" y="5157216"/>
            <a:ext cx="1756150" cy="237744"/>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900" b="1" i="0">
                <a:solidFill>
                  <a:srgbClr val="FFFFFF"/>
                </a:solidFill>
                <a:latin typeface="Arial"/>
              </a:rPr>
              <a:t>M  A  S  A  L  A  H</a:t>
            </a:r>
          </a:p>
        </p:txBody>
      </p:sp>
      <p:sp>
        <p:nvSpPr>
          <p:cNvPr id="25" name="Rectangle 24"/>
          <p:cNvSpPr/>
          <p:nvPr/>
        </p:nvSpPr>
        <p:spPr>
          <a:xfrm>
            <a:off x="6173708" y="5431536"/>
            <a:ext cx="1756150" cy="1280160"/>
          </a:xfrm>
          <a:prstGeom prst="rect">
            <a:avLst/>
          </a:prstGeom>
          <a:solidFill>
            <a:srgbClr val="AA3015"/>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lnSpc>
                <a:spcPct val="104000"/>
              </a:lnSpc>
            </a:pPr>
            <a:r>
              <a:rPr sz="819" b="1" i="0">
                <a:solidFill>
                  <a:srgbClr val="FFFFFF"/>
                </a:solidFill>
                <a:latin typeface="Arial"/>
              </a:rPr>
              <a:t>PKL dan bongkar-muat di badan Jl. Ahmad Yani menimbulkan kemacetan, diperparah antrean perlintasan kereta api.</a:t>
            </a:r>
          </a:p>
        </p:txBody>
      </p:sp>
      <p:sp>
        <p:nvSpPr>
          <p:cNvPr id="26" name="Rectangle 25"/>
          <p:cNvSpPr/>
          <p:nvPr/>
        </p:nvSpPr>
        <p:spPr>
          <a:xfrm>
            <a:off x="8085307" y="5157216"/>
            <a:ext cx="1756150" cy="237744"/>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900" b="1" i="0">
                <a:solidFill>
                  <a:srgbClr val="FFFFFF"/>
                </a:solidFill>
                <a:latin typeface="Arial"/>
              </a:rPr>
              <a:t>M  A  S  A  L  A  H</a:t>
            </a:r>
          </a:p>
        </p:txBody>
      </p:sp>
      <p:sp>
        <p:nvSpPr>
          <p:cNvPr id="27" name="Rectangle 26"/>
          <p:cNvSpPr/>
          <p:nvPr/>
        </p:nvSpPr>
        <p:spPr>
          <a:xfrm>
            <a:off x="8085307" y="5431536"/>
            <a:ext cx="1756150" cy="1280160"/>
          </a:xfrm>
          <a:prstGeom prst="rect">
            <a:avLst/>
          </a:prstGeom>
          <a:solidFill>
            <a:srgbClr val="AA3015"/>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lnSpc>
                <a:spcPct val="104000"/>
              </a:lnSpc>
            </a:pPr>
            <a:r>
              <a:rPr sz="819" b="1" i="0">
                <a:solidFill>
                  <a:srgbClr val="FFFFFF"/>
                </a:solidFill>
                <a:latin typeface="Arial"/>
              </a:rPr>
              <a:t>Mangkraknya revitalisasi Pasar Induk Kroya membuat para pedagang berjualan di tempat lain, sehingga pendapatan pedagang menurun.</a:t>
            </a:r>
          </a:p>
        </p:txBody>
      </p:sp>
      <p:sp>
        <p:nvSpPr>
          <p:cNvPr id="28" name="Rectangle 27"/>
          <p:cNvSpPr/>
          <p:nvPr/>
        </p:nvSpPr>
        <p:spPr>
          <a:xfrm>
            <a:off x="9996906" y="5157216"/>
            <a:ext cx="1756150" cy="237744"/>
          </a:xfrm>
          <a:prstGeom prst="rect">
            <a:avLst/>
          </a:prstGeom>
          <a:solidFill>
            <a:srgbClr val="6A7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tIns="18288" bIns="18288"/>
          <a:lstStyle/>
          <a:p>
            <a:pPr algn="ctr">
              <a:lnSpc>
                <a:spcPct val="92000"/>
              </a:lnSpc>
            </a:pPr>
            <a:r>
              <a:rPr sz="900" b="1" i="0">
                <a:solidFill>
                  <a:srgbClr val="FFFFFF"/>
                </a:solidFill>
                <a:latin typeface="Arial"/>
              </a:rPr>
              <a:t>M  A  S  A  L  A  H</a:t>
            </a:r>
          </a:p>
        </p:txBody>
      </p:sp>
      <p:sp>
        <p:nvSpPr>
          <p:cNvPr id="29" name="Rectangle 28"/>
          <p:cNvSpPr/>
          <p:nvPr/>
        </p:nvSpPr>
        <p:spPr>
          <a:xfrm>
            <a:off x="9996906" y="5431536"/>
            <a:ext cx="1756150" cy="1280160"/>
          </a:xfrm>
          <a:prstGeom prst="rect">
            <a:avLst/>
          </a:prstGeom>
          <a:solidFill>
            <a:srgbClr val="AA3015"/>
          </a:solidFill>
          <a:ln>
            <a:noFill/>
          </a:ln>
        </p:spPr>
        <p:style>
          <a:lnRef idx="1">
            <a:schemeClr val="accent1"/>
          </a:lnRef>
          <a:fillRef idx="3">
            <a:schemeClr val="accent1"/>
          </a:fillRef>
          <a:effectRef idx="2">
            <a:schemeClr val="accent1"/>
          </a:effectRef>
          <a:fontRef idx="minor">
            <a:schemeClr val="lt1"/>
          </a:fontRef>
        </p:style>
        <p:txBody>
          <a:bodyPr rtlCol="0" anchor="ctr" wrap="square" lIns="82296" rIns="82296"/>
          <a:lstStyle/>
          <a:p>
            <a:pPr algn="ctr">
              <a:lnSpc>
                <a:spcPct val="104000"/>
              </a:lnSpc>
            </a:pPr>
            <a:r>
              <a:rPr sz="819" b="1" i="0">
                <a:solidFill>
                  <a:srgbClr val="FFFFFF"/>
                </a:solidFill>
                <a:latin typeface="Arial"/>
              </a:rPr>
              <a:t>Kebutuhan jalur pejalan kaki dan pesepeda di koridor Jl. Ahmad Yani belum terpenuhi, sehingga meningkatkan risiko keselamatan pengguna jalan.</a:t>
            </a:r>
          </a:p>
        </p:txBody>
      </p:sp>
      <p:sp>
        <p:nvSpPr>
          <p:cNvPr id="30" name="Rectangle 29"/>
          <p:cNvSpPr/>
          <p:nvPr/>
        </p:nvSpPr>
        <p:spPr>
          <a:xfrm>
            <a:off x="1311501" y="4974336"/>
            <a:ext cx="9568967" cy="16459"/>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09672" y="4974336"/>
            <a:ext cx="14630" cy="182879"/>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21271" y="4974336"/>
            <a:ext cx="14630" cy="182879"/>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132870" y="4974336"/>
            <a:ext cx="14630" cy="182879"/>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044469" y="4974336"/>
            <a:ext cx="14630" cy="182879"/>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956067" y="4974336"/>
            <a:ext cx="14630" cy="182879"/>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867666" y="4974336"/>
            <a:ext cx="14630" cy="182879"/>
          </a:xfrm>
          <a:prstGeom prst="rect">
            <a:avLst/>
          </a:prstGeom>
          <a:solidFill>
            <a:srgbClr val="364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flipV="1">
            <a:off x="6095984" y="4791456"/>
            <a:ext cx="0" cy="182880"/>
          </a:xfrm>
          <a:prstGeom prst="line">
            <a:avLst/>
          </a:prstGeom>
          <a:ln w="19050">
            <a:solidFill>
              <a:srgbClr val="364025"/>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